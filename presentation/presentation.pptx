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Remplissage</c:v>
                </c:pt>
              </c:strCache>
            </c:strRef>
          </c:tx>
          <c:spPr>
            <a:solidFill>
              <a:srgbClr val="C7C8C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4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Betclic ÉLITE</c:v>
                  </c:pt>
                  <c:pt idx="1">
                    <c:v>EuroLeague</c:v>
                  </c:pt>
                  <c:pt idx="2">
                    <c:v>Playoffs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82.5</c:v>
                </c:pt>
                <c:pt idx="2">
                  <c:v>84.7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4F4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A8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D1F26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D1F26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Remplissage vs rang adversaire</c:v>
                </c:pt>
              </c:strCache>
            </c:strRef>
          </c:tx>
          <c:spPr>
            <a:solidFill>
              <a:srgbClr val="E3392F"/>
            </a:solidFill>
            <a:ln w="31750" cap="flat">
              <a:solidFill>
                <a:srgbClr val="E339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4F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3392F"/>
              </a:solidFill>
              <a:ln w="9525" cap="flat">
                <a:solidFill>
                  <a:srgbClr val="E339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</c:v>
                </c:pt>
                <c:pt idx="1">
                  <c:v>90</c:v>
                </c:pt>
                <c:pt idx="2">
                  <c:v>88</c:v>
                </c:pt>
                <c:pt idx="3">
                  <c:v>85</c:v>
                </c:pt>
                <c:pt idx="4">
                  <c:v>82</c:v>
                </c:pt>
                <c:pt idx="5">
                  <c:v>78</c:v>
                </c:pt>
                <c:pt idx="6">
                  <c:v>74</c:v>
                </c:pt>
                <c:pt idx="7">
                  <c:v>70</c:v>
                </c:pt>
                <c:pt idx="8">
                  <c:v>68</c:v>
                </c:pt>
                <c:pt idx="9">
                  <c:v>64</c:v>
                </c:pt>
                <c:pt idx="10">
                  <c:v>60</c:v>
                </c:pt>
                <c:pt idx="11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4F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A7A8B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A7A8B0"/>
                    </a:solidFill>
                    <a:latin typeface="Arial"/>
                  </a:rPr>
                  <a:t>Rang de l'adversaire avant match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8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33353F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A7A8B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A7A8B0"/>
                    </a:solidFill>
                    <a:latin typeface="Arial"/>
                  </a:rPr>
                  <a:t>% rempli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8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4C6FE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4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Mer</c:v>
                  </c:pt>
                  <c:pt idx="2">
                    <c:v>Jeu</c:v>
                  </c:pt>
                  <c:pt idx="3">
                    <c:v>Ven</c:v>
                  </c:pt>
                  <c:pt idx="4">
                    <c:v>Sam</c:v>
                  </c:pt>
                  <c:pt idx="5">
                    <c:v>Dim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81.9</c:v>
                </c:pt>
                <c:pt idx="1">
                  <c:v>80.9</c:v>
                </c:pt>
                <c:pt idx="2">
                  <c:v>81.8</c:v>
                </c:pt>
                <c:pt idx="3">
                  <c:v>94.7</c:v>
                </c:pt>
                <c:pt idx="4">
                  <c:v>80.3</c:v>
                </c:pt>
                <c:pt idx="5">
                  <c:v>74.8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4F4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A8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E3392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4C6FE0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DIGITAL · SAISON 2025-2026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
</a:t>
            </a:r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des matchs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matchs sous-performent en remplissage, et quels leviers (tarification, campagnes, timing) pourraient corriger ça 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technique Data &amp; Digital — Candidature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 la présentation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question métier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question, et comment y répondre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848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98080" y="2084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techniques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2487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couches, DuckDB, robustesse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021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45920" y="3502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904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vrais bugs trouvés et corrigés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5021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98080" y="3502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3904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disent les 41 matchs de la saison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194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45920" y="4919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5321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club peut faire, concrètement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9194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démo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5321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ne sait pas encore, dashboard en direct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ouverte, un choix assumé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métier retenue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Quels matchs sous-performent en remplissage, et quels leviers (tarification, campagnes, timing) pourraient corriger ça ? 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935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 directement les 4 sources fournies (billetterie, scans, calendrier, contexte)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109728" cy="109728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793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vérifiable : calendrier et résultats sportifs sont réels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5120640"/>
            <a:ext cx="109728" cy="109728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51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Débouche sur des recommandations concrètes pour un dirigeant du club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0" y="178308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en un coup d'œil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467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à domicile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4564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46720" y="3959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billetterie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3525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48554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vendus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524865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046720" y="5751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834640" cy="320040"/>
          </a:xfrm>
          <a:prstGeom prst="roundRect">
            <a:avLst>
              <a:gd name="adj" fmla="val 48571"/>
            </a:avLst>
          </a:prstGeom>
          <a:solidFill>
            <a:srgbClr val="F1EDEA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couches, comme dans un vrai contexte pro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E339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brut, sans transformation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à la source. Rejouable seul si un format change.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28800"/>
            <a:ext cx="3520440" cy="109728"/>
          </a:xfrm>
          <a:prstGeom prst="rect">
            <a:avLst/>
          </a:prstGeom>
          <a:solidFill>
            <a:srgbClr val="4C6F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typage, dédoublonnage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unifiées, décimales normalisées, doublons supprimés.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828800"/>
            <a:ext cx="3520440" cy="109728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2606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gold.fact_match — 41 matchs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par match : remplissage, présence, classement, contexte.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justifiés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029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: SQL analytique, pas de serveur, un seul fichier — adapté à un projet solo sur 7 jours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5486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séquentiel plutôt qu'Airflow — outil calibré à l'usage, pas de complexité disproportionnée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943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atomiques + branches expérimentales pour le modèle et l'analyse digital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QUALITÉ DES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qui ne casse pas au premier fichier récalcitrant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E3392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392F"/>
                </a:solidFill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corrompus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fichiers billetterie sur 358 tronqués (coupure SFTP probable)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301752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3392F"/>
                </a:solidFill>
              </a:rPr>
              <a:t>CORRECTION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Isolés, loggés, pipeline continue avec les 356 valides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240280"/>
            <a:ext cx="457200" cy="457200"/>
          </a:xfrm>
          <a:prstGeom prst="ellipse">
            <a:avLst/>
          </a:prstGeom>
          <a:solidFill>
            <a:srgbClr val="4C6FE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6FE0"/>
                </a:solidFill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sans en-tête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 scan sans ligne de colonnes — schéma décalé silencieusement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4663440"/>
            <a:ext cx="301752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6FE0"/>
                </a:solidFill>
              </a:rPr>
              <a:t>CORRECTION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en remontant un taux_presence=0 incohérent en gold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240280"/>
            <a:ext cx="457200" cy="457200"/>
          </a:xfrm>
          <a:prstGeom prst="ellipse">
            <a:avLst/>
          </a:prstGeom>
          <a:solidFill>
            <a:srgbClr val="6FCB8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CB8E"/>
                </a:solidFill>
              </a:rPr>
              <a:t>!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vide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 de 0 octet — plantage du chargeur CSV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4663440"/>
            <a:ext cx="301752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FCB8E"/>
                </a:solidFill>
              </a:rPr>
              <a:t>CORRECTION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et ignoré proprement, sans interrompre le pipeline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12 tests de cohérence automatisés protègent ces 3 corrections contre toute régression future.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remplissage moyen : 80% — mais avec de gros écarts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moyen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 plus faible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C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 plus fort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1920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analysés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moyen par compétition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84048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309360" y="342900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dit déjà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Playoffs et EuroLeague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remplissent nettement mieux que le championnat national — un premier signal d'attractivité de marque.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ce n'est pas le facteur principal. Le vrai levier est ailleurs →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dominant : le classement de l'adversaire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7830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 statistiquement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266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 (Ridge, LOO-CV)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2788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C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8.3%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266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relative — solide pour 41 observations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3840480"/>
            <a:ext cx="356616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rang_adversaire_avant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4343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ressort comme la feature la plus influente, de loin — devant compétition, jour, vacances.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26680" y="5349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</a:rPr>
              <a:t>vs top adversaire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509760" y="5349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50976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</a:rPr>
              <a:t>vs adversaire faible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timing compte : dimanche et vacances scolaires pèsent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moyen par jour de semaine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0312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00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 : 10 matchs, échantillon solide — pas un artefact.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Vacances scolaires : effet vérifié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B0"/>
                </a:solidFill>
              </a:rPr>
              <a:t>pendant les vacances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5256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C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0525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B0"/>
                </a:solidFill>
              </a:rPr>
              <a:t>hors vacances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3566160"/>
            <a:ext cx="480060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703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Contre-intuitif — donc vérifié avant d'être retenu 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4069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rang moyen des adversaires est comparable dans les deux groupes (9.6 vs 10.1) — l'écart n'est donc pas expliqué par un calendrier qui placerait des adversaires plus faibles pendant les vacances.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Démêler une fausse piste : satisfaction et remplissage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clivage net : matchs à ~8/10 vs matchs à ~6/10 de satisfaction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hypothèses testées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Compétition, type d'enquête, période de saison, canal de réponse — aucune n'explique le clivage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057400"/>
            <a:ext cx="457200" cy="457200"/>
          </a:xfrm>
          <a:prstGeom prst="ellipse">
            <a:avLst/>
          </a:prstGeom>
          <a:solidFill>
            <a:srgbClr val="E3392F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5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vraie cause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du match. 8.14/10 en victoire, 6.20/10 en défaite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0972800" cy="1828800"/>
          </a:xfrm>
          <a:prstGeom prst="roundRect">
            <a:avLst>
              <a:gd name="adj" fmla="val 6000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révèle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remplissage et la satisfaction ne sont pas directement liés. Ce sont deux conséquences distinctes du même facteur, le niveau de l'adversaire (corrélation victoire/remplissage : -0.45). Une corrélation de surface aurait mené à une fausse conclusion (« moins de monde = public plus content ») si elle n'avait pas été vérifiée.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Annulations, et un angle digital souvent négligé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du succès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remplissage ↔ taux d'annulation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matchs à forte affluence attendue génèrent proportionnellement plus d'achats annulés, probablement des réservations « spéculatives » faites par précaution. Ampleur modeste en absolu (0.2% à 1.8% du volume).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Piste : liste d'attente ou frais modulés sur les matchs premium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e-commerce &amp; campagnes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newsletter, Google Ads convertissent 3x mieux (~22.5%) que l'organique/social (~6.5-7%)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977640"/>
            <a:ext cx="4800600" cy="0"/>
          </a:xfrm>
          <a:prstGeom prst="line">
            <a:avLst/>
          </a:prstGeom>
          <a:noFill/>
          <a:ln w="12700">
            <a:solidFill>
              <a:srgbClr val="3335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 38.4% ouverture · 34.5% clic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21.3% ouverture · 22.6% clic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Prioriser le SMS pour les campagnes à fort enjeu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RECOMMANDATIONS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club peut faire, concrètement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E339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dynamique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plus agressive pour les matchs contre un adversaire classé au-delà de la 15e place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28800"/>
            <a:ext cx="73152" cy="1920240"/>
          </a:xfrm>
          <a:prstGeom prst="rect">
            <a:avLst/>
          </a:prstGeom>
          <a:solidFill>
            <a:srgbClr val="4C6FE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933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ciblées SMS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dimanches et vacances scolaires — SMS en priorité (2x plus engageant que l'email)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73152" cy="1920240"/>
          </a:xfrm>
          <a:prstGeom prst="rect">
            <a:avLst/>
          </a:prstGeom>
          <a:solidFill>
            <a:srgbClr val="C7C8CE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933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 sur l'EuroLeague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8 points avec le championnat — un vrai effet de marque à exploiter dans le packaging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73152" cy="1920240"/>
          </a:xfrm>
          <a:prstGeom prst="rect">
            <a:avLst/>
          </a:prstGeom>
          <a:solidFill>
            <a:srgbClr val="E33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42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d'annulation adaptée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modulés ou liste d'attente pour les matchs premium à forte demande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977640"/>
            <a:ext cx="73152" cy="1920240"/>
          </a:xfrm>
          <a:prstGeom prst="rect">
            <a:avLst/>
          </a:prstGeom>
          <a:solidFill>
            <a:srgbClr val="4C6FE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42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géolocalisé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Intensifier au nord-est parisien (18e/19e), cibler l'acquisition en petite couronne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977640"/>
            <a:ext cx="73152" cy="1920240"/>
          </a:xfrm>
          <a:prstGeom prst="rect">
            <a:avLst/>
          </a:prstGeom>
          <a:solidFill>
            <a:srgbClr val="C7C8CE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142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digital réalloué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l'acquisition payante sur SMS/newsletter/CPC plutôt que l'organique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LIMITES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ne sait pas (encore)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93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matchs seulement — certains découpages (ex. un seul match un vendredi) reposent sur peu de données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93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Fausses pistes documentées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3591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horaire (confondu avec jour de semaine) et effet météo (non significatif) explorés puis écartés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93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593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limitée aux ~7956 réponses POST_MATCH ; les enquêtes de saison n'ont pas de match_id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429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93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9593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codes postaux sur 69 sans correspondance dans les référentiels de population (hors Île-de-France)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 l'IA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utilisé pour l'architecture, le code, le diagnostic de bugs et la vérification statistique — chaque résultat recalculé et confirmé manuellement sur les données réelles avant validation.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24262E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autonome, 2 minutes de lecture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114800"/>
          </a:xfrm>
          <a:prstGeom prst="roundRect">
            <a:avLst>
              <a:gd name="adj" fmla="val 2667"/>
            </a:avLst>
          </a:prstGeom>
          <a:solidFill>
            <a:srgbClr val="1D1F26"/>
          </a:solidFill>
          <a:ln w="12700">
            <a:solidFill>
              <a:srgbClr val="333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Ouvrir dashboard/dashboard.html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Chart.js embarqués — fonctionne hors ligne, aucune dépendance externe critique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Basketball — Test technique Data &amp; Digital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E3392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4C6FE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pipeline, tests, notebook,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NOTES.md — question, chiffres clés, recommandations, limites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docs/data_quality.md — 3 bugs trouvés et corrigés, documentés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2026-08-04T21:59:08Z</dcterms:created>
  <dcterms:modified xsi:type="dcterms:W3CDTF">2026-08-04T21:59:08Z</dcterms:modified>
</cp:coreProperties>
</file>